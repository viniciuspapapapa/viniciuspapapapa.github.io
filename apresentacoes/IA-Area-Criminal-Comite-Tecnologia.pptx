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62095" cy="2743200"/>
          </a:xfrm>
          <a:prstGeom prst="rect">
            <a:avLst/>
          </a:prstGeom>
          <a:solidFill>
            <a:srgbClr val="1A1A1B"/>
          </a:solidFill>
          <a:ln w="12700">
            <a:solidFill>
              <a:srgbClr val="1A1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1371600"/>
            <a:ext cx="2590495" cy="3657600"/>
          </a:xfrm>
          <a:prstGeom prst="rect">
            <a:avLst/>
          </a:prstGeom>
          <a:solidFill>
            <a:srgbClr val="232325"/>
          </a:solidFill>
          <a:ln w="12700">
            <a:solidFill>
              <a:srgbClr val="2323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COMITÊ DE TECNOLOGIA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INTELIGÊNCIA ARTIFICIAL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NA ÁREA CRIMINAL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3429000"/>
            <a:ext cx="2926080" cy="0"/>
          </a:xfrm>
          <a:prstGeom prst="line">
            <a:avLst/>
          </a:prstGeom>
          <a:noFill/>
          <a:ln w="31750">
            <a:solidFill>
              <a:srgbClr val="E8E3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F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já está em operação e o que proponho como próximo passo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solidFill>
            <a:srgbClr val="0F0F10"/>
          </a:solidFill>
          <a:ln w="19050">
            <a:solidFill>
              <a:srgbClr val="A0A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4846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TOLEDO, PAOLIELLO, DE PAULA,</a:t>
            </a:r>
            <a:endParaRPr lang="en-US" sz="1100" dirty="0"/>
          </a:p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CAMPOS, CUNHA E CORDEIRO </a:t>
            </a:r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 de Direito Penal  ·  Agosto de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ESTE COMITÊ VAI 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Roteiro da apresentação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·  PANORAMA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foi construído nos últimos três meses, em números, e a arquitetura em três camadas que sustenta tudo.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96951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9753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·  EM OPERAÇÃO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309753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dezoito rotinas de IA e as nove ferramentas web já usadas no dia a dia da área criminal — e as que extrapolaram para outras áreas.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0553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8338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·  GOVERNANÇA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418338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Sigilo, LGPD, validação humana obrigatória e os limites que foram desenhados no próprio código.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14121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6923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·  EM ANÁLISE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60520" y="526923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propostas de expansão, um plano de noventa dias e o que preciso do Comitê para executá-lo.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Toledo, Paoliello, de Paula, Campos, Cunha e Cordeiro Advogados  ·  Área Criminal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JÁ EXISTE, EM NÚMEROS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ROTINAS DE 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Rotinas especializadas ("skills") escritas para o escritório, das quais 11 são exclusivas da área criminal. Cada uma carrega o método de trabalho da área, não apenas um comando.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45936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FERRAMENTAS WEB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45936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Aplicações próprias publicadas e acessíveis pelo navegador, sem instalação: comparador de depoimentos, índice de jurisprudência, gerador de resposta a ofícios, painéis e simuladores.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BASES PRÓPRIAS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que baixam e organizam dados públicos oficiais: acórdãos do STJ (dados abertos) e Dívida Ativa da União (PGFN). Atualizáveis por comando, sem retrabalho manual.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126 VERSÕES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45936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o código está versionado e auditável desde 23 de maio de 2026, com histórico de cada alteração. Nada depende da memória ou do computador de uma pessoa só.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Período: 23/05/2026 a 12/08/2026  ·  desenvolvimento interno, sem contratação de fornecedor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EE80"/>
          </a:solidFill>
          <a:ln w="12700">
            <a:solidFill>
              <a:srgbClr val="F2EE8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ISSO ESTÁ CONSTRUÍDO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Três camadas, cada uma resolvendo um tipo diferente de problema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126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 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rotinas de IA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7498080" cy="1338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método da área codificado. Cada rotina obriga a IA a seguir o mesmo fluxo que um advogado sênior seguiria: ler os autos, entregar relatório estratégico, validar jurisprudência e só então redigir. Trabalho sob demanda, iniciado por conversa.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3314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9480"/>
            <a:ext cx="3474720" cy="126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 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ferramentas web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3459480"/>
            <a:ext cx="7498080" cy="1338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precisa ser usado repetidamente, por qualquer pessoa da equipe, sem depender de IA a cada uso. Abrem no navegador, funcionam offline quando preciso e não guardam dados em servidor.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7792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07280"/>
            <a:ext cx="3474720" cy="126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CAMADA 3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pipelines de dados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4907280"/>
            <a:ext cx="7498080" cy="1338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precisa de dado bruto e atualização periódica. Baixam fontes oficiais e abertas, filtram, classificam e alimentam as ferramentas da camada 2. Custo zero de licença de dados.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de infraestrutura hoje: hospedagem gratuita (GitHub Pages) + licença Claude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516"/>
          </a:solidFill>
          <a:ln w="12700">
            <a:solidFill>
              <a:srgbClr val="1515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spc="15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 QUE JÁ ESTÁ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spc="15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EM OPERAÇÃO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3977640"/>
            <a:ext cx="3657600" cy="0"/>
          </a:xfrm>
          <a:prstGeom prst="line">
            <a:avLst/>
          </a:prstGeom>
          <a:noFill/>
          <a:ln w="31750">
            <a:solidFill>
              <a:srgbClr val="E8E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60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Rotinas de IA, ferramentas web e bases de dados em uso na área criminal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PRODUÇÃO DE PEÇAS CRIMINAIS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rotinas cobrem o ciclo completo de um caso, da análise dos autos à peça pronta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DEFESA CRIMINAL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/defesa-criminal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Elabora e revisa peças defensivas a partir dos PDFs dos autos: resposta à acusação, alegações finais, memoriais, HC, recursos, manifestações em inquérito, impugnação de cautelares. Fluxo em três etapas com validação do advogado antes de cada avanço.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5234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ESTUDO DE CASO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/criminal-case-study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288036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Documento analítico interno: reconstrução fática, mapeamento probatório favorável e desfavorável, análise de tipicidade e teses defensivas. Não vai aos autos — orienta a estratégia.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62102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ASSISTENTE DE ACUSAÇÃO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/assistente-acusacao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374904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profundidade, pela perspectiva da vítima: reforça a acusação, corrige fragilidades do MP e antecipa teses defensivas.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48970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17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 ESPECIAL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/recurso-especial-criminal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60520" y="461772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Trata a admissibilidade como problema central: prequestionamento, cotejo analítico, dissídio jurisprudencial e Súmula 7 do STJ, antes de qualquer redação.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35838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4864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ORGANIZADOR DE DOCUMENTOS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/organizador-documentos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60520" y="548640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 documentos avulsos do cliente em um PDF único, com capas numeradas e descritas, pronto para instruir a peça.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rotina /criminal-review foi absorvida por /defesa-criminal — consolidação, não acúmulo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PADRONIZAÇÃO E LEGAL DESIGN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 LEGAL DESIGN  ·  /tpc-legal-design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Insere fluxogramas, linhas do tempo, quadros comparativos e destaques em peças já prontas, editando o arquivo original — mesmo timbre, mesma fonte, mesmas margens. Nenhuma palavra do texto é alterada. Cada elemento visual precisa ter função argumentativa: o fluxograma expõe a contradição, a linha do tempo revela a lacuna.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45936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DESIGN DOCX  ·  /legal-design-docx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45936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Versão genérica da anterior, aplicável a qualquer documento jurídico e a qualquer identidade visual — inclusive de outras áreas do escritório. Mesmo princípio: a integridade do conteúdo é intocável, só a estrutura visual é trabalhada.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TPC  ·  /tpc-apresentacao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 apresentações no padrão institucional do escritório: paleta, tipografia, geometria dos slides e endereços das cinco filiais. Estes slides que o Comitê está vendo foram produzidos por ela.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ISSO IMPORTA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45936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Padronização deixa de depender de disciplina individual e passa a estar embutida na ferramenta. Quem entra na equipe produz no padrão desde a primeira peça, sem curva de adaptação.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Ganho principal: identidade visual e estrutura uniformes, independentemente de quem redige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EE80"/>
          </a:solidFill>
          <a:ln w="12700">
            <a:solidFill>
              <a:srgbClr val="F2EE8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INTELIGÊNCIA JURÍDICA E CONTEÚDO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Monitoramento contínuo do que muda no direito penal, convertido em comunicação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CLIPPING CRIMINAL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/conjur-criminal-news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Levanta e resume as notícias criminais das últimas duas semanas no Consultor Jurídico e entrega um mailing pronto para circulação interna e para clientes, em linguagem clara.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96951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9753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PAUTA CRIMINAL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/pauta-criminal-instagram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309753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 decisões recentes do STJ e do STF em dois formatos: resumo técnico para clientes e texto acessível para redes sociais, com link de cada matéria.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0553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8338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PROJETOS DE LEI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/projetos-lei-criminal-instagram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418338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Rastreia PLs penais e processuais penais na Câmara, no Senado e no Planalto, com ementa, relator e fase de tramitação — antecipando mudanças legislativas que atingem a carteira.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14121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6923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MAILING TRIBUTÁRIO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8E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/mailing-tributario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60520" y="526923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lógica aplicada à área tributária: pautas de julgamento do STF e do STJ nos quinze dias seguintes, com alerta de ajuizamento preventivo. Nasceu na área criminal e foi cedida.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Trabalho que antes consumia horas de pesquisa manual a cada quinzena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E ROTINA DA EQUIPE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PAUTA DE AUDIÊNCIAS  ·  /pauta-audiencias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Varre todos os calendários do Google e devolve uma planilha com audiências, oitivas e compromissos das duas semanas seguintes, de segunda a domingo. Substitui a montagem manual da pauta semanal.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45936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DE PRODUTIVIDADE  ·  /painel-produtividade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45936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Nasceu de uma análise pontual de 11 mil tarefas feita para o comitê de líderes e virou painel permanente: qualquer nova exportação do ADVWin o regenera. Mede granularidade de apontamento, tempo interno versus cliente, possível duplicidade de lançamento e evolução semanal por advogado.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PRIVACIDADE POR DESENHO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painel abre sempre vazio: nenhum dado de advogado ou cliente fica embutido no arquivo publicado. Os dados são carregados pelo usuário no próprio navegador e não trafegam para servidor algum — decisão registrada no histórico do código.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ANÁLISE PONTUAL A ROTINA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45936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padrão que se repetiu em quase tudo: um trabalho manual pesado, feito uma vez, foi convertido em ferramenta que se repete a custo próximo de zero.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automática com o ADVWin ainda depende de acesso — ver pedidos ao Comitê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EE80"/>
          </a:solidFill>
          <a:ln w="12700">
            <a:solidFill>
              <a:srgbClr val="F2EE8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FERRAMENTAS WEB PRÓPRIAS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Abrem no navegador, sem instalação e sem servidor guardando dados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COMPARADOR DE VERSÕES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Confronta depoimentos e versões fáticas de um mesmo caso e organiza o resultado em contradições, convergências, lacunas narrativas, afirmações isoladas, síntese e recomendações estratégicas. Trabalho artesanal de cotejo, feito de forma estruturada.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96951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9753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DE JURISPRUDÊNCIA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309753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em acórdãos do STJ por ementa, tese, relator, órgão julgador, ano e tema repetitivo, com exportação. Base construída sobre os dados abertos oficiais do próprio tribunal.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0553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8338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GERADOR DE RESPOSTA A OFÍCIOS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418338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 resposta a requisições de autoridade a partir dos documentos do caso, com estrutura completa: tempestividade, arquitetura da operação, repartição de responsabilidades, medidas antifraude, compliance e reserva de jurisdição.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14121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69230"/>
            <a:ext cx="3474720" cy="902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TRANSCRIÇÃO DE ÁUDIO E VÍDEO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60520" y="5269230"/>
            <a:ext cx="7498080" cy="976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Aplicativo próprio para transcrever audiências, oitivas e reuniões, com fila de múltiplos arquivos e suporte aos formatos que os tribunais e celulares realmente produzem.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Também disponíveis: simulador da Reforma Tributária, diagnóstico patrimonial, painel de captação e Lex Dashboard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BASES DE DADOS PRÓPRIAS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ACÓRDÃOS DO STJ  ·  custo zero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Indexador dos "Espelhos de Acórdãos" publicados pelo próprio STJ em dados abertos: número, classe, órgão julgador, relator, ementa, tese, tema repetitivo e referências. Sem chave de API e sem assinatura. O STJ é hoje o único tribunal superior com dump em lote — por isso a base começou por ele.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45936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DÍVIDA ATIVA DA UNIÃO  ·  PGFN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45936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que baixa a base da PGFN, filtra Minas Gerais, agrega por CNPJ, calcula score de oportunidade e enriquece as maiores devedoras com dados cadastrais públicos. Alimenta o painel de captação da área tributária.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CRUZAMENTO PENAL-TRIBUTÁRIO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 essa base, classifiquei 633 empresas por probabilidade de exposição penal-tributária a partir da natureza do tributo inscrito — contribuição descontada do segurado (art. 168-A, CP) e tributo retido na fonte (art. 2º, II, Lei 8.137/90). É priorização, não parecer.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LIMITE ESTÁ ESCRITO NA FERRAMENTA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45936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próprio documento registra que dívida ativa é cobrança cível, que a inferência não confirma existência de ação penal, que a responsabilidade é do administrador à época e que pagamento extingue a punibilidade. A ferramenta prioriza; quem conclui é o advogado.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Fontes públicas e oficiais  ·  pessoas físicas descartadas por padrão  ·  material interno não publicado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EE80"/>
          </a:solidFill>
          <a:ln w="12700">
            <a:solidFill>
              <a:srgbClr val="F2EE8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CASO, DE PONTA A PONTA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as peças se encaixam quando chega um inquérito novo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LER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PDFs dos autos entram no estudo de caso. Sai um documento com reconstrução fática, mapa probatório e teses candidatas — antes de qualquer decisão estratégica.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5234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COTEJAR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288036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Depoimentos e versões vão para o comparador. Contradições, lacunas e afirmações isoladas ficam explícitas e viram munição da peça.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62102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PESQUISAR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374904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tese é confrontada com o índice de jurisprudência do STJ e com a pesquisa validada pelo advogado. Nada entra na peça sem conferência na fonte.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48970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17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REDIGIR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60520" y="461772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rotina de defesa criminal produz a peça em etapas, com aprovação do advogado a cada avanço, já no padrão do escritório.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535838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4864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· ENTREGAR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60520" y="5486400"/>
            <a:ext cx="749808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design aplica os elementos visuais argumentativos e o organizador monta o PDF de documentos com capas numeradas. Peça e anexos saem juntos.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etapa tem parada obrigatória para validação humana — nenhuma delas é automática de ponta a ponta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516"/>
          </a:solidFill>
          <a:ln w="12700">
            <a:solidFill>
              <a:srgbClr val="1515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spc="15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GOVERNANÇA,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spc="15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SIGILO E LIMITES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3977640"/>
            <a:ext cx="3657600" cy="0"/>
          </a:xfrm>
          <a:prstGeom prst="line">
            <a:avLst/>
          </a:prstGeom>
          <a:noFill/>
          <a:ln w="31750">
            <a:solidFill>
              <a:srgbClr val="E8E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60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restrições foram desenhadas dentro das ferramentas, não escritas depois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O RISCO ESTÁ CONTROLADO HOJE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IA NÃO ASSINA NADA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5294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as rotinas de produção de peça param e pedem validação do advogado antes de avançar. O produto é minuta de trabalho, submetida a revisão humana como qualquer outra.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45936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JURISPRUDÊNCIA CONFERIDA NA FONTE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45936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892808"/>
            <a:ext cx="5294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pesquisa é etapa separada e validada antes da redação, justamente para impedir citação inventada. O índice do STJ vem do dado oficial do tribunal, não de resumo de terceiro.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 DE CLIENTE NÃO É PUBLICADO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38728"/>
            <a:ext cx="5294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confidencial fica fora do repositório público. O painel de produtividade abre vazio e processa no navegador do usuário. O material de risco penal está marcado como interno e não foi publicado.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306324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FONTES ABERTAS E LGPD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45936" y="344728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3538728"/>
            <a:ext cx="5294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bases usam dados públicos oficiais (PGFN e STJ). No pipeline de captação, pessoas físicas são descartadas por padrão e o uso é prospecção entre empresas, com conferência da situação atual antes de qualquer abordagem.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VERSIONADO E AUDITÁVEL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09320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84648"/>
            <a:ext cx="5294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alteração tem autor, data e justificativa registrados. É possível reconstruir por que uma ferramenta se comporta de determinado modo — inclusive as decisões de privacidade.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45936" y="470916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AINDA PRECISA DE DECISÃO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45936" y="509320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5184648"/>
            <a:ext cx="52943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existe política formal de uso de IA no escritório, nem repositório privado institucional, nem definição de quem homologa uma rotina antes de virar padrão da área. É o principal pedido desta apresentação.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aqui substitui juízo profissional — as ferramentas encurtam o caminho até ele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EE80"/>
          </a:solidFill>
          <a:ln w="12700">
            <a:solidFill>
              <a:srgbClr val="F2EE8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51516"/>
          </a:solidFill>
          <a:ln w="12700">
            <a:solidFill>
              <a:srgbClr val="1515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BLOCO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spc="15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 QUE ESTÁ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spc="15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EM ANÁLISE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66928" y="3977640"/>
            <a:ext cx="3657600" cy="0"/>
          </a:xfrm>
          <a:prstGeom prst="line">
            <a:avLst/>
          </a:prstGeom>
          <a:noFill/>
          <a:ln w="31750">
            <a:solidFill>
              <a:srgbClr val="E8E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605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propostas de expansão submetidas à avaliação do Comitê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PROPOSTAS EM AVALIAÇÃO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 partem de algo que já funciona — são extensões, não recomeços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MEMÓRIA DA ÁREA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pesquisável das peças e teses já produzidas pelo escritório. Hoje a experiência acumulada está espalhada em pastas; indexada, passaria a alimentar cada peça nova. Maior ganho potencial da lista.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6075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355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JURISPRUDÊNCIA AMPLIADA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27355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Estender o índice ao TJMG e ao TRF6, que concentram nossa carteira, e adicionar busca por sentido, não só por palavra exata. Depende de fonte de dados: fora do STJ não há dump aberto equivalente.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314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594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ASSISTENTE DE AUDIÊNCIA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34594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Ligar a transcrição já existente ao comparador de versões: sai da audiência com o depoimento transcrito e as contradições em relação às versões anteriores já apontadas.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553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833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DOSIMETRIA E ANPP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60520" y="41833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Rotina para cálculo de pena e avaliação de requisitos de acordo de não persecução penal, com simulação de cenários de proposta. Cálculo conferível, não estimativa.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7792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072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DA CARTEIRA CRIMINAL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60520" y="49072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única de fase processual, próximos atos, prazos e risco por caso. Depende de acesso de leitura ao ADVWin — hoje o dado entra por exportação manual.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5031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6311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RESPOSTA A OFÍCIOS GENERALIZADA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60520" y="56311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Transformar o gerador feito para um cliente específico em ferramenta para qualquer requisição de autoridade, aproveitando a estrutura já validada na prática.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Estimativas de esforço e ordem de execução no slide seguinte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 SUGERIDO PARA 90 DIAS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DIAS 1 A 30  ·  CONSOLIDAR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Formalizar a política de uso de IA e o repositório privado institucional. Treinar a equipe criminal nas rotinas que já existem — o maior ganho imediato não é construir mais, é fazer o que já está pronto ser usado por todos.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45936" y="141732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DIAS 31 A 60  ·  MEMÓRIA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45936" y="180136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89280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 o banco interno de peças e teses e ligá-lo às rotinas de produção. É a proposta com maior retorno e a que mais depende de decisão institucional sobre onde o acervo pode ficar hospedado.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DIAS 61 A 90  ·  INTEGRAR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Assistente de audiência e painel da carteira criminal, ambos condicionados a acesso: um ao ambiente de transcrição, outro ao ADVWin. Dosimetria e ANPP entram aqui se houver folga.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3886200"/>
            <a:ext cx="5294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MEDIR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45936" y="4270248"/>
            <a:ext cx="5294376" cy="0"/>
          </a:xfrm>
          <a:prstGeom prst="line">
            <a:avLst/>
          </a:prstGeom>
          <a:noFill/>
          <a:ln w="25400">
            <a:solidFill>
              <a:srgbClr val="E8E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4361688"/>
            <a:ext cx="52943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Proponho acompanhar três indicadores simples desde o dia 1: número de peças que passaram por alguma rotina, tempo entre recebimento dos autos e primeira minuta, e adesão da equipe. Sem medição, a discussão do próximo ciclo vira opinião.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Execução dentro da própria área, sem contratação externa — o que muda é o tempo alocado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2EE80"/>
          </a:solidFill>
          <a:ln w="12700">
            <a:solidFill>
              <a:srgbClr val="F2EE8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1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PEÇO AO COMITÊ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98480" y="29260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01400" y="292608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Seis decisões destravam tudo o que foi apresentado no bloco anterior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1064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POLÍTICA DE IA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20116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 formal sobre que tipo de informação de cliente pode ser submetida a ferramenta de IA, com o crivo do sigilo profissional. Hoje o critério é individual — deveria ser institucional.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6075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355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REPOSITÓRIO PRIVADO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27355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 institucional para o que é confidencial. Parte do material já precisa ficar deliberadamente fora do repositório público por não haver alternativa.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314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594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AO ADVWIN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60520" y="34594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 automatizada dos dados de tarefas, prazos e andamentos. Sem isso, painel de produtividade e painel de carteira continuam dependendo de exportação manual.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553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833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LICENÇAS E TREINAMENTO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60520" y="41833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Licenças para a equipe criminal e tempo formalmente alocado para treinamento. Ferramenta não usada não gera retorno algum.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7792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072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AMBIENTE COM REDE LIBERADA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60520" y="49072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pipelines de dados precisam alcançar PGFN, STJ e APIs públicas de CNPJ. Hoje essa etapa roda em máquina pessoal por restrição de rede.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503164"/>
            <a:ext cx="1106424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631180"/>
            <a:ext cx="3474720" cy="541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HOMOLOGA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60520" y="5631180"/>
            <a:ext cx="7498080" cy="614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quem aprova uma rotina antes de ela virar padrão da área, e como se registra essa aprovação. É a peça que falta para escalar isso para além de uma pessoa.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essas decisões, o que existe continua funcionando — mas continua dependendo de iniciativa individual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62095" cy="3108960"/>
          </a:xfrm>
          <a:prstGeom prst="rect">
            <a:avLst/>
          </a:prstGeom>
          <a:solidFill>
            <a:srgbClr val="1A1A1B"/>
          </a:solidFill>
          <a:ln w="12700">
            <a:solidFill>
              <a:srgbClr val="1A1A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8E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SÍNTESE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spc="12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área criminal já opera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spc="120" kern="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com essas ferramentas.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3337560"/>
            <a:ext cx="3657600" cy="0"/>
          </a:xfrm>
          <a:prstGeom prst="line">
            <a:avLst/>
          </a:prstGeom>
          <a:noFill/>
          <a:ln w="31750">
            <a:solidFill>
              <a:srgbClr val="E8E3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118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trago ao Comitê não é um pedido de aprovação para começar, e sim as decisões institucionais que permitem transformar iniciativa individual em capacidade do escritório.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solidFill>
            <a:srgbClr val="0F0F10"/>
          </a:solidFill>
          <a:ln w="19050">
            <a:solidFill>
              <a:srgbClr val="A0A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TOLEDO, PAOLIELLO, DE PAULA,</a:t>
            </a:r>
            <a:endParaRPr lang="en-US" sz="1100" dirty="0"/>
          </a:p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CAMPOS, CUNHA E CORDEIRO </a:t>
            </a:r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ADVOGADOS.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BELO HORIZONTE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Rua Yvon Magalhães Pinto, 615, 8º andar | São Bento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Belo Horizonte | MG | CEP 30350.560 | Tel. (31) 3527.5800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Rua Bandeira Paulista, 726, 17º andar | Itaim Bibi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São Paulo | SP | CEP 04532.002 | Tel. (11) 3056.2110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BRASÍLIA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SHS Quadra 6, Brasil 21, Bloco A, sala 501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Brasília | DF | CEP 70316.102 | Tel. (61) 2193.1283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CUIABÁ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Av. das Flores, 945, 10º andar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Jardim Cuiabá | Cuiabá | MT | CEP 78043.172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JOÃO MONLEVADE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760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Av. Wilson Alvarenga, 1.059, sala 601 | Carneirinhos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João Monlevade | MG | CEP 35930.001 | Tel. (31) 3193.0191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E347"/>
          </a:solidFill>
          <a:ln w="12700">
            <a:solidFill>
              <a:srgbClr val="E8E34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2026-08-19T13:07:33Z</dcterms:created>
  <dcterms:modified xsi:type="dcterms:W3CDTF">2026-08-19T13:07:33Z</dcterms:modified>
</cp:coreProperties>
</file>